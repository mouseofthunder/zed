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Outfit"/>
              </a:defRPr>
            </a:pPr>
            <a:r>
              <a:t>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Outfit"/>
              </a:defRPr>
            </a:pPr>
            <a:r>
              <a:t>Process &amp; Requirements Oversight &amp; Verification Engine</a:t>
            </a:r>
          </a:p>
          <a:p>
            <a:pPr>
              <a:spcAft>
                <a:spcPts val="400"/>
              </a:spcAft>
              <a:defRPr sz="18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Outfit"/>
              </a:defRPr>
            </a:pPr>
            <a:r>
              <a:t>ASPICE v4.0 Assessment Workbench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Outfit"/>
              </a:defRPr>
            </a:pPr>
            <a:r>
              <a:t>by sensified Solutions GmbH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Outfit"/>
              </a:defRPr>
            </a:pPr>
            <a:r>
              <a:t>sensified.com  ·  Local LLM ·  Apple Silicon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What is PROVE?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Outfit"/>
              </a:defRPr>
            </a:pPr>
            <a:r>
              <a:t>Bridges the gap between ALM tools and ASPICE assessments.</a:t>
            </a:r>
          </a:p>
          <a:p>
            <a:pPr>
              <a:spcAft>
                <a:spcPts val="400"/>
              </a:spcAft>
              <a:defRPr sz="17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Outfit"/>
              </a:defRPr>
            </a:pPr>
            <a:r>
              <a:t>Ingests evidence → Builds knowledge graph</a:t>
            </a: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Outfit"/>
              </a:defRPr>
            </a:pPr>
            <a:r>
              <a:t>→ Evaluates compliance → Generates reports.</a:t>
            </a:r>
          </a:p>
          <a:p>
            <a:pPr>
              <a:spcAft>
                <a:spcPts val="400"/>
              </a:spcAft>
              <a:defRPr sz="17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E293B"/>
                </a:solidFill>
                <a:latin typeface="Outfit"/>
              </a:defRPr>
            </a:pPr>
            <a:r>
              <a:t>All inference local. No cloud. Deterministic where it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8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Process</a:t>
            </a:r>
            <a:br/>
            <a:r>
              <a:t>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18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Evidence</a:t>
            </a:r>
            <a:br/>
            <a:r>
              <a:t>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3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Assessment</a:t>
            </a:r>
            <a:br/>
            <a:r>
              <a:t>Angles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N-P-L-F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ASPICE</a:t>
            </a:r>
            <a:br/>
            <a:r>
              <a:t>Rating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Architecture — 3 Services, 1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  <a:latin typeface="Outfit"/>
              </a:defRPr>
            </a:pPr>
            <a:r>
              <a:t>Frontend</a:t>
            </a:r>
            <a:br/>
            <a:r>
              <a:t>(port 5173)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Outfit"/>
              </a:defRPr>
            </a:pPr>
            <a:r>
              <a:t>React + TypeScript</a:t>
            </a:r>
            <a:br/>
            <a:r>
              <a:t>Vite dev server</a:t>
            </a:r>
            <a:br/>
            <a:r>
              <a:t>Dashboard, Assessment, Solve</a:t>
            </a:r>
          </a:p>
        </p:txBody>
      </p:sp>
      <p:sp>
        <p:nvSpPr>
          <p:cNvPr id="5" name="Octagon 4"/>
          <p:cNvSpPr/>
          <p:nvPr/>
        </p:nvSpPr>
        <p:spPr>
          <a:xfrm>
            <a:off x="4160520" y="2560320"/>
            <a:ext cx="228600" cy="274320"/>
          </a:xfrm>
          <a:prstGeom prst="oct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59" y="1828800"/>
            <a:ext cx="33832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  <a:latin typeface="Outfit"/>
              </a:defRPr>
            </a:pPr>
            <a:r>
              <a:t>Backend API</a:t>
            </a:r>
            <a:br/>
            <a:r>
              <a:t>(port 8000)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Outfit"/>
              </a:defRPr>
            </a:pPr>
            <a:r>
              <a:t>Python FastAPI</a:t>
            </a:r>
            <a:br/>
            <a:r>
              <a:t>Gateway + MemoryGraph</a:t>
            </a:r>
            <a:br/>
            <a:r>
              <a:t>Evidence ingestion</a:t>
            </a:r>
          </a:p>
        </p:txBody>
      </p:sp>
      <p:sp>
        <p:nvSpPr>
          <p:cNvPr id="7" name="Octagon 6"/>
          <p:cNvSpPr/>
          <p:nvPr/>
        </p:nvSpPr>
        <p:spPr>
          <a:xfrm>
            <a:off x="7909559" y="2560320"/>
            <a:ext cx="228600" cy="274320"/>
          </a:xfrm>
          <a:prstGeom prst="oct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33832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A8A"/>
                </a:solidFill>
                <a:latin typeface="Outfit"/>
              </a:defRPr>
            </a:pPr>
            <a:r>
              <a:t>LLM Server</a:t>
            </a:r>
            <a:br/>
            <a:r>
              <a:t>(port 8081)</a:t>
            </a:r>
          </a:p>
          <a:p>
            <a:pPr algn="ctr">
              <a:spcBef>
                <a:spcPts val="1200"/>
              </a:spcBef>
              <a:defRPr sz="1300">
                <a:solidFill>
                  <a:srgbClr val="64748B"/>
                </a:solidFill>
                <a:latin typeface="Outfit"/>
              </a:defRPr>
            </a:pPr>
            <a:r>
              <a:t>MLX / llama.cpp</a:t>
            </a:r>
            <a:br/>
            <a:r>
              <a:t>Apple Silicon</a:t>
            </a:r>
            <a:br/>
            <a:r>
              <a:t>Metal acceleration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Outfit"/>
              </a:defRPr>
            </a:pPr>
            <a:r>
              <a:t>start.sh → all 3 services on localhost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Evidence Ingestion — 18 Sources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9144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3A8A"/>
                          </a:solidFill>
                          <a:latin typeface="Outfit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3A8A"/>
                          </a:solidFill>
                          <a:latin typeface="Outfit"/>
                        </a:defRPr>
                      </a:pPr>
                      <a:r>
                        <a:t>Sources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ALM /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Polarion · DOORS NG · Jira · Confluence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Source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Git (MCU, NAD) · RTCU AST Analysis · ELF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Test &amp;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Robot Framework · Jira Bridge · CSV/JSON Imports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Process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Confluence Management Evidence · Review Records · HLD/Architecture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MemoryGraph —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Nodes: Requirements · Documents · Architecture Elements · Test Cases · Issues · Code Functions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Edges: Implements · Traces · Calls · Depends On · Contains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Capabilities: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FTS5 full-text search with diacritic removal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Automatic traceability gap detection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Coverage analysis across all linked evidence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Staleness detection — graph vs. database row count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Deterministic path walks → same input = same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ASPICE v4.0 Evaluation Engine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3A8A"/>
                          </a:solidFill>
                          <a:latin typeface="Outfit"/>
                        </a:defRPr>
                      </a:pPr>
                      <a:r>
                        <a:t>Process Group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3A8A"/>
                          </a:solidFill>
                          <a:latin typeface="Outfit"/>
                        </a:defRPr>
                      </a:pPr>
                      <a:r>
                        <a:t>Processes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SYS —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SYS.2 · SYS.3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SWE —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SWE.1–SWE.6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HWE —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HWE.1–HWE.3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MLE — ML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MLE.1–MLE.3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SEC —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SEC.1–SEC.3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MAN —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MAN.3 · MAN.4 · MAN.5 · MAN.7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SUP —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SUP.1–SUP.8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ACQ — 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ACQ.1–ACQ.10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Outfit"/>
              </a:defRPr>
            </a:pPr>
            <a:r>
              <a:t>3 Assessment Angles:  PA 1.1 (Base Practices)  ·  PA 2.1 (Performance Mgmt)  ·  PA 2.2 (Work Products)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Outfit"/>
              </a:defRPr>
            </a:pPr>
            <a:r>
              <a:t>Rating:   N (0-15%)  ·  P (16-50%)  ·  L (51-85%)  ·  F (86-100%)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Outfit"/>
              </a:defRPr>
            </a:pPr>
            <a:r>
              <a:t>Capability Level 2:  PA 1.1 = F   AND   PA 2.1 ≥ L   AND   PA 2.2 ≥ 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SOLVE Mode — Deterministic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Complementary mode focused on gap resolution, not just detection.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3 Domains: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Test Generation (SWE.4/SWE.5) — AST + libclang + Arrange/Oracle → NO LLM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Traceability — KG Linker + Name Matching → NO LLM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Requirements Quality — Quality Metrics + LLM Chat (local, optional)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Key principle: Deterministic where it matters. LLM only where it helps.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All inference on local MLX/llama.cpp — no cloud, no API keys.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Extension System — Declarative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prove-extensions/ — fully configurable without code changes: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widgets/ — Dashboard widgets as JSON declarations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views/ — Custom page layouts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reports/ — Report templates for PDF, PPTX, HTML, Confluence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import-rules/ — File import mapping rules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layouts/ — Dashboard layout configurations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• themes/ + logos/ — Customer branding (colors, fonts, SVG/PNG)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Reports: Write-back to Confluence with automatic validation.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Import: Rule-based ingestion from CSV, JSON, ELF, Robot Test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9144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3A8A"/>
                          </a:solidFill>
                          <a:latin typeface="Outfit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3A8A"/>
                          </a:solidFill>
                          <a:latin typeface="Outfit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React 18 + TypeScript · Vite · Tailwind CSS · Ant Design · D3.js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Python 3.11+ · FastAPI · SQLite (FTS5) · MemoryGraph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MLX (Apple Silicon) · llama.cpp · GGUF models — local only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Extensions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Declarative JSON configs · JSON Schema validation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PDF (WeasyPrint) · PPTX (python-pptx) · HTML · Confluence REST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Outfit"/>
                        </a:defRPr>
                      </a:pPr>
                      <a:r>
                        <a:t>macOS · Apple Silicon optimized · Metal GPU acceleration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Outfit"/>
              </a:defRPr>
            </a:pPr>
            <a:r>
              <a:t>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Outfit"/>
              </a:defRPr>
            </a:pPr>
            <a:r>
              <a:t>Process &amp; Requirements Oversight &amp; Verification Engine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sensified Solutions GmbH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www.sensified.com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ASPICE v4.0 Assessment Workbench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Local LLM · Apple Silicon · Deterministic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