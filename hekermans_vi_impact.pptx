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26060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A8A"/>
                </a:solidFill>
                <a:latin typeface="Outfit"/>
              </a:defRPr>
            </a:pPr>
            <a:r>
              <a:t>EDV Beratung Arnd Hekermans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474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Outfit"/>
              </a:defRPr>
            </a:pPr>
            <a:r>
              <a:t>Softwareentwicklung für Embedded Automotive Systeme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Outfit"/>
              </a:defRPr>
            </a:pPr>
            <a:r>
              <a:t>VI Impact — Deterministic Traceability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5303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Outfit"/>
              </a:defRPr>
            </a:pPr>
            <a:r>
              <a:t>arnd@hekermans.de  ·  www.hekermans.de  ·  www.hekermans.de/vimpact.eu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Outfit"/>
              </a:defRPr>
            </a:pPr>
            <a:r>
              <a:t>Arnd Hekermans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Outfit"/>
              </a:defRPr>
            </a:pPr>
            <a:r>
              <a:t>Dipl.-Inf. · Freelancer seit über 20 Jahren im Automotive-Bereich</a:t>
            </a:r>
          </a:p>
          <a:p>
            <a:pPr>
              <a:spcAft>
                <a:spcPts val="400"/>
              </a:spcAft>
              <a:defRPr sz="1600">
                <a:solidFill>
                  <a:srgbClr val="64748B"/>
                </a:solidFill>
                <a:latin typeface="Outfit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Outfit"/>
              </a:defRPr>
            </a:pPr>
            <a:r>
              <a:t>Fokus: Vernetzte Steuergeräte — Feldbusse, Protokolle, Applikationslogik</a:t>
            </a:r>
          </a:p>
          <a:p>
            <a:pPr>
              <a:spcAft>
                <a:spcPts val="400"/>
              </a:spcAft>
              <a:defRPr sz="1600">
                <a:solidFill>
                  <a:srgbClr val="64748B"/>
                </a:solidFill>
                <a:latin typeface="Outfit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Outfit"/>
              </a:defRPr>
            </a:pPr>
            <a:r>
              <a:t>Kernkompetenzen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Outfit"/>
              </a:defRPr>
            </a:pPr>
            <a:r>
              <a:t>• Autosar Classic 3.x / 4.x — Diagnose (UDS, DCM), NVM, FEE, OS, ETH, FBL, DEM, MCAL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Outfit"/>
              </a:defRPr>
            </a:pPr>
            <a:r>
              <a:t>• ISO 26262 Functional Safety bis ASIL-D · ASPICE v3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Outfit"/>
              </a:defRPr>
            </a:pPr>
            <a:r>
              <a:t>• Signal-/Kontrollfluss-Analysen · Reverse Engineering · System-Dokumentation</a:t>
            </a:r>
          </a:p>
          <a:p>
            <a:pPr>
              <a:spcAft>
                <a:spcPts val="400"/>
              </a:spcAft>
              <a:defRPr sz="1600">
                <a:solidFill>
                  <a:srgbClr val="64748B"/>
                </a:solidFill>
                <a:latin typeface="Outfit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Outfit"/>
              </a:defRPr>
            </a:pPr>
            <a:r>
              <a:t>Kunden: Daimler, BMW, Bosch, Panasonic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Outfit"/>
              </a:defRPr>
            </a:pPr>
            <a:r>
              <a:t>Interessen: Adaptive Autosar · BMS · ADAS · ISO 21434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Outfit"/>
              </a:defRPr>
            </a:pPr>
            <a:r>
              <a:t>VI Impact — The Traceability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Outfit"/>
              </a:defRPr>
            </a:pPr>
            <a:r>
              <a:t>Connect the ALM tools you already run.</a:t>
            </a:r>
          </a:p>
          <a:p>
            <a:pPr>
              <a:spcAft>
                <a:spcPts val="800"/>
              </a:spcAft>
              <a:defRPr sz="2000">
                <a:solidFill>
                  <a:srgbClr val="1E293B"/>
                </a:solidFill>
                <a:latin typeface="Outfit"/>
              </a:defRPr>
            </a:pPr>
            <a:r>
              <a:t>Surface every gap. Pass the audit.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Ein Assessment-Layer über Ihrer Safety-Engineering-Toolchain.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Kein Ersatz — sondern die Schicht, die beweist,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dass Ihre Toolchain produziert hat, was sie sollte.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572000"/>
            <a:ext cx="21945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E3A8A"/>
                </a:solidFill>
                <a:latin typeface="Outfit"/>
              </a:defRPr>
            </a:pPr>
            <a:r>
              <a:t>9</a:t>
            </a:r>
          </a:p>
          <a:p>
            <a:pPr algn="ctr">
              <a:defRPr sz="1100">
                <a:solidFill>
                  <a:srgbClr val="64748B"/>
                </a:solidFill>
                <a:latin typeface="Outfit"/>
              </a:defRPr>
            </a:pPr>
            <a:r>
              <a:t>Adapters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572000"/>
            <a:ext cx="21945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E3A8A"/>
                </a:solidFill>
                <a:latin typeface="Outfit"/>
              </a:defRPr>
            </a:pPr>
            <a:r>
              <a:t>4</a:t>
            </a:r>
          </a:p>
          <a:p>
            <a:pPr algn="ctr">
              <a:defRPr sz="1100">
                <a:solidFill>
                  <a:srgbClr val="64748B"/>
                </a:solidFill>
                <a:latin typeface="Outfit"/>
              </a:defRPr>
            </a:pPr>
            <a:r>
              <a:t>Tiers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4572000"/>
            <a:ext cx="21945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E3A8A"/>
                </a:solidFill>
                <a:latin typeface="Outfit"/>
              </a:defRPr>
            </a:pPr>
            <a:r>
              <a:t>6</a:t>
            </a:r>
          </a:p>
          <a:p>
            <a:pPr algn="ctr">
              <a:defRPr sz="1100">
                <a:solidFill>
                  <a:srgbClr val="64748B"/>
                </a:solidFill>
                <a:latin typeface="Outfit"/>
              </a:defRPr>
            </a:pPr>
            <a:r>
              <a:t>Gap Types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4572000"/>
            <a:ext cx="219456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E3A8A"/>
                </a:solidFill>
                <a:latin typeface="Outfit"/>
              </a:defRPr>
            </a:pPr>
            <a:r>
              <a:t>5+</a:t>
            </a:r>
          </a:p>
          <a:p>
            <a:pPr algn="ctr">
              <a:defRPr sz="1100">
                <a:solidFill>
                  <a:srgbClr val="64748B"/>
                </a:solidFill>
                <a:latin typeface="Outfit"/>
              </a:defRPr>
            </a:pPr>
            <a:r>
              <a:t>Norms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Outfit"/>
              </a:defRPr>
            </a:pPr>
            <a:r>
              <a:t>Engine Architecture — 4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265176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  <a:latin typeface="Outfit"/>
              </a:defRPr>
            </a:pPr>
            <a:r>
              <a:t>01 · INGEST</a:t>
            </a:r>
          </a:p>
          <a:p>
            <a:pPr algn="ctr">
              <a:spcBef>
                <a:spcPts val="1000"/>
              </a:spcBef>
              <a:defRPr sz="1200">
                <a:solidFill>
                  <a:srgbClr val="64748B"/>
                </a:solidFill>
                <a:latin typeface="Outfit"/>
              </a:defRPr>
            </a:pPr>
            <a:r>
              <a:t>Adapters lesen aus Polarion, Jama,</a:t>
            </a:r>
            <a:br/>
            <a:r>
              <a:t>codeBeamer, Git, MagicDraw, EA</a:t>
            </a:r>
          </a:p>
        </p:txBody>
      </p:sp>
      <p:sp>
        <p:nvSpPr>
          <p:cNvPr id="5" name="Octagon 4"/>
          <p:cNvSpPr/>
          <p:nvPr/>
        </p:nvSpPr>
        <p:spPr>
          <a:xfrm>
            <a:off x="3246120" y="2240280"/>
            <a:ext cx="228600" cy="274320"/>
          </a:xfrm>
          <a:prstGeom prst="octag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29000" y="1645920"/>
            <a:ext cx="265176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  <a:latin typeface="Outfit"/>
              </a:defRPr>
            </a:pPr>
            <a:r>
              <a:t>02 · NORMALIZE</a:t>
            </a:r>
          </a:p>
          <a:p>
            <a:pPr algn="ctr">
              <a:spcBef>
                <a:spcPts val="1000"/>
              </a:spcBef>
              <a:defRPr sz="1200">
                <a:solidFill>
                  <a:srgbClr val="64748B"/>
                </a:solidFill>
                <a:latin typeface="Outfit"/>
              </a:defRPr>
            </a:pPr>
            <a:r>
              <a:t>Ein typisiertes Graph-Modell</a:t>
            </a:r>
            <a:br/>
            <a:r>
              <a:t>über alle Tools hinweg</a:t>
            </a:r>
          </a:p>
        </p:txBody>
      </p:sp>
      <p:sp>
        <p:nvSpPr>
          <p:cNvPr id="7" name="Octagon 6"/>
          <p:cNvSpPr/>
          <p:nvPr/>
        </p:nvSpPr>
        <p:spPr>
          <a:xfrm>
            <a:off x="6126480" y="2240280"/>
            <a:ext cx="228600" cy="274320"/>
          </a:xfrm>
          <a:prstGeom prst="octag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59" y="1645920"/>
            <a:ext cx="265176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  <a:latin typeface="Outfit"/>
              </a:defRPr>
            </a:pPr>
            <a:r>
              <a:t>03 · ENRICH</a:t>
            </a:r>
          </a:p>
          <a:p>
            <a:pPr algn="ctr">
              <a:spcBef>
                <a:spcPts val="1000"/>
              </a:spcBef>
              <a:defRPr sz="1200">
                <a:solidFill>
                  <a:srgbClr val="64748B"/>
                </a:solidFill>
                <a:latin typeface="Outfit"/>
              </a:defRPr>
            </a:pPr>
            <a:r>
              <a:t>Norm-Clauses (ISO 26262, 21434,</a:t>
            </a:r>
            <a:br/>
            <a:r>
              <a:t>ASPICE, 13849) mit REQs verlinkt</a:t>
            </a:r>
          </a:p>
        </p:txBody>
      </p:sp>
      <p:sp>
        <p:nvSpPr>
          <p:cNvPr id="9" name="Octagon 8"/>
          <p:cNvSpPr/>
          <p:nvPr/>
        </p:nvSpPr>
        <p:spPr>
          <a:xfrm>
            <a:off x="9006839" y="2240280"/>
            <a:ext cx="228600" cy="274320"/>
          </a:xfrm>
          <a:prstGeom prst="octag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89719" y="1645920"/>
            <a:ext cx="265176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  <a:latin typeface="Outfit"/>
              </a:defRPr>
            </a:pPr>
            <a:r>
              <a:t>04 · ANALYZE</a:t>
            </a:r>
          </a:p>
          <a:p>
            <a:pPr algn="ctr">
              <a:spcBef>
                <a:spcPts val="1000"/>
              </a:spcBef>
              <a:defRPr sz="1200">
                <a:solidFill>
                  <a:srgbClr val="64748B"/>
                </a:solidFill>
                <a:latin typeface="Outfit"/>
              </a:defRPr>
            </a:pPr>
            <a:r>
              <a:t>Deterministische Path-Walks,</a:t>
            </a:r>
            <a:br/>
            <a:r>
              <a:t>Gap Detection, Coverage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Outfit"/>
              </a:defRPr>
            </a:pPr>
            <a:r>
              <a:t>Six Gap Types — Classified by Severity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A8A"/>
                </a:solidFill>
                <a:latin typeface="Outfit"/>
              </a:defRPr>
            </a:pPr>
            <a:r>
              <a:t>Orphan</a:t>
            </a:r>
            <a:br/>
            <a:r>
              <a:t>Requirement</a:t>
            </a:r>
          </a:p>
          <a:p>
            <a:pPr algn="ctr">
              <a:spcBef>
                <a:spcPts val="800"/>
              </a:spcBef>
              <a:defRPr sz="1200">
                <a:solidFill>
                  <a:srgbClr val="64748B"/>
                </a:solidFill>
                <a:latin typeface="Outfit"/>
              </a:defRPr>
            </a:pPr>
            <a:r>
              <a:t>REQ ohne Link zu</a:t>
            </a:r>
            <a:br/>
            <a:r>
              <a:t>Test/Design/Norm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59" y="1645920"/>
            <a:ext cx="338328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A8A"/>
                </a:solidFill>
                <a:latin typeface="Outfit"/>
              </a:defRPr>
            </a:pPr>
            <a:r>
              <a:t>Broken</a:t>
            </a:r>
            <a:br/>
            <a:r>
              <a:t>Trace</a:t>
            </a:r>
          </a:p>
          <a:p>
            <a:pPr algn="ctr">
              <a:spcBef>
                <a:spcPts val="800"/>
              </a:spcBef>
              <a:defRPr sz="1200">
                <a:solidFill>
                  <a:srgbClr val="64748B"/>
                </a:solidFill>
                <a:latin typeface="Outfit"/>
              </a:defRPr>
            </a:pPr>
            <a:r>
              <a:t>Kette bricht</a:t>
            </a:r>
            <a:br/>
            <a:r>
              <a:t>an einer Stelle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645920"/>
            <a:ext cx="338328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A8A"/>
                </a:solidFill>
                <a:latin typeface="Outfit"/>
              </a:defRPr>
            </a:pPr>
            <a:r>
              <a:t>Orphan</a:t>
            </a:r>
            <a:br/>
            <a:r>
              <a:t>Test</a:t>
            </a:r>
          </a:p>
          <a:p>
            <a:pPr algn="ctr">
              <a:spcBef>
                <a:spcPts val="800"/>
              </a:spcBef>
              <a:defRPr sz="1200">
                <a:solidFill>
                  <a:srgbClr val="64748B"/>
                </a:solidFill>
                <a:latin typeface="Outfit"/>
              </a:defRPr>
            </a:pPr>
            <a:r>
              <a:t>Test ohne</a:t>
            </a:r>
            <a:br/>
            <a:r>
              <a:t>Requirement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31920"/>
            <a:ext cx="338328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A8A"/>
                </a:solidFill>
                <a:latin typeface="Outfit"/>
              </a:defRPr>
            </a:pPr>
            <a:r>
              <a:t>Untraced</a:t>
            </a:r>
            <a:br/>
            <a:r>
              <a:t>Code</a:t>
            </a:r>
          </a:p>
          <a:p>
            <a:pPr algn="ctr">
              <a:spcBef>
                <a:spcPts val="800"/>
              </a:spcBef>
              <a:defRPr sz="1200">
                <a:solidFill>
                  <a:srgbClr val="64748B"/>
                </a:solidFill>
                <a:latin typeface="Outfit"/>
              </a:defRPr>
            </a:pPr>
            <a:r>
              <a:t>Funktion ohne</a:t>
            </a:r>
            <a:br/>
            <a:r>
              <a:t>Upstream-REQ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3931920"/>
            <a:ext cx="338328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A8A"/>
                </a:solidFill>
                <a:latin typeface="Outfit"/>
              </a:defRPr>
            </a:pPr>
            <a:r>
              <a:t>Dead</a:t>
            </a:r>
            <a:br/>
            <a:r>
              <a:t>Code</a:t>
            </a:r>
          </a:p>
          <a:p>
            <a:pPr algn="ctr">
              <a:spcBef>
                <a:spcPts val="800"/>
              </a:spcBef>
              <a:defRPr sz="1200">
                <a:solidFill>
                  <a:srgbClr val="64748B"/>
                </a:solidFill>
                <a:latin typeface="Outfit"/>
              </a:defRPr>
            </a:pPr>
            <a:r>
              <a:t>Keine Caller</a:t>
            </a:r>
            <a:br/>
            <a:r>
              <a:t>im Call-Graph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3931920"/>
            <a:ext cx="338328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A8A"/>
                </a:solidFill>
                <a:latin typeface="Outfit"/>
              </a:defRPr>
            </a:pPr>
            <a:r>
              <a:t>ASIL</a:t>
            </a:r>
            <a:br/>
            <a:r>
              <a:t>Mismatch</a:t>
            </a:r>
          </a:p>
          <a:p>
            <a:pPr algn="ctr">
              <a:spcBef>
                <a:spcPts val="800"/>
              </a:spcBef>
              <a:defRPr sz="1200">
                <a:solidFill>
                  <a:srgbClr val="64748B"/>
                </a:solidFill>
                <a:latin typeface="Outfit"/>
              </a:defRPr>
            </a:pPr>
            <a:r>
              <a:t>Komplexität &gt;</a:t>
            </a:r>
            <a:br/>
            <a:r>
              <a:t>ASIL Class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Outfit"/>
              </a:defRPr>
            </a:pPr>
            <a:r>
              <a:t>Why Not 'AI'?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Compliance-Artefakte sind Evidence. Evidence muss reproduzierbar sein.</a:t>
            </a:r>
          </a:p>
          <a:p>
            <a:pPr>
              <a:spcAft>
                <a:spcPts val="400"/>
              </a:spcAft>
              <a:defRPr sz="1500">
                <a:solidFill>
                  <a:srgbClr val="64748B"/>
                </a:solidFill>
                <a:latin typeface="Outfit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Generativer Ansatz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  LLM produziert finale Artefakte → LLM = Evidence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  Auditor fragt: „Wie wurde entschieden?" → Antwort: Token-Verteilung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  → Nicht auditierbar</a:t>
            </a:r>
          </a:p>
          <a:p>
            <a:pPr>
              <a:spcAft>
                <a:spcPts val="400"/>
              </a:spcAft>
              <a:defRPr sz="1500">
                <a:solidFill>
                  <a:srgbClr val="64748B"/>
                </a:solidFill>
                <a:latin typeface="Outfit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VI Ansatz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  LLM schlägt vor → Engine validiert strukturell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  → Engineer approved → Graph Walk = Evidence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  → Gleicher Input = gleicher Output. Jeder Audit. Replayable.</a:t>
            </a:r>
          </a:p>
          <a:p>
            <a:pPr>
              <a:spcAft>
                <a:spcPts val="400"/>
              </a:spcAft>
              <a:defRPr sz="1500">
                <a:solidFill>
                  <a:srgbClr val="64748B"/>
                </a:solidFill>
                <a:latin typeface="Outfit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Outfit"/>
              </a:defRPr>
            </a:pPr>
            <a:r>
              <a:t>Der LLM ist nie die Source of Truth.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Outfit"/>
              </a:defRPr>
            </a:pPr>
            <a:r>
              <a:t>Deployment — Your Data, Your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Outfit"/>
              </a:defRPr>
            </a:pPr>
            <a:r>
              <a:t>On-Premises: Container auf Kunden-Hardware · Single-Tenant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Outfit"/>
              </a:defRPr>
            </a:pPr>
            <a:r>
              <a:t>Air-Gapped: Kein Netzwerk nach außen, kein Cloud-LLM, keine Telemetrie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Outfit"/>
              </a:defRPr>
            </a:pPr>
            <a:r>
              <a:t>Hybrid RAG: Optionaler Chat-Endpoint mit Kunden-eigenem LLM</a:t>
            </a:r>
          </a:p>
          <a:p>
            <a:pPr>
              <a:spcAft>
                <a:spcPts val="400"/>
              </a:spcAft>
              <a:defRPr sz="1600">
                <a:solidFill>
                  <a:srgbClr val="64748B"/>
                </a:solidFill>
                <a:latin typeface="Outfit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Outfit"/>
              </a:defRPr>
            </a:pPr>
            <a:r>
              <a:t>Live-Deployments bei Tier-1 Zulieferern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Outfit"/>
              </a:defRPr>
            </a:pPr>
            <a:r>
              <a:t>• Automotive ADAS  ·  Industrial Vehicles  ·  Process Automation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Outfit"/>
              </a:defRPr>
            </a:pPr>
            <a:r>
              <a:t>• Concept Deployment ISO 13849: Jama + Git + AST/IR Layer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Outfit"/>
              </a:defRPr>
            </a:pPr>
            <a:r>
              <a:t>• Mehrere tausend Items · Echte Norm-Corpora · Kunden-Hardware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Outfit"/>
              </a:defRPr>
            </a:pPr>
            <a:r>
              <a:t>Let's talk.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Outfit"/>
              </a:defRPr>
            </a:pPr>
            <a:r>
              <a:t>Arnd Hekermans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Outfit"/>
              </a:defRPr>
            </a:pPr>
            <a:r>
              <a:t>arnd@hekermans.de  ·  +49 7153 926 0926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Outfit"/>
              </a:defRPr>
            </a:pPr>
            <a:r>
              <a:t>www.hekermans.de  ·  www.hekermans.de/vimpact.eu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Outfit"/>
              </a:defRPr>
            </a:pP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Outfit"/>
              </a:defRPr>
            </a:pPr>
            <a:r>
              <a:t>EDV Beratung Arnd Hekermans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Outfit"/>
              </a:defRPr>
            </a:pPr>
            <a:r>
              <a:t>Landskrona Weg 36  ·  73207 Plochingen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